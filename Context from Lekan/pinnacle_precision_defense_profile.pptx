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200000">
            <a:off x="8899855" y="-914400"/>
            <a:ext cx="4572000" cy="4572000"/>
          </a:xfrm>
          <a:prstGeom prst="rect">
            <a:avLst/>
          </a:prstGeom>
          <a:solidFill>
            <a:srgbClr val="2F5C8A">
              <a:alpha val="1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180015" y="4480560"/>
            <a:ext cx="2377440" cy="2377440"/>
          </a:xfrm>
          <a:prstGeom prst="triangle">
            <a:avLst/>
          </a:prstGeom>
          <a:solidFill>
            <a:srgbClr val="C9A227">
              <a:alpha val="1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557784"/>
            <a:ext cx="310896" cy="292608"/>
          </a:xfrm>
          <a:prstGeom prst="triangle">
            <a:avLst/>
          </a:prstGeom>
          <a:solidFill>
            <a:srgbClr val="2F5C8A"/>
          </a:solidFill>
          <a:ln/>
        </p:spPr>
      </p:sp>
      <p:sp>
        <p:nvSpPr>
          <p:cNvPr id="28" name="Shape 26"/>
          <p:cNvSpPr/>
          <p:nvPr/>
        </p:nvSpPr>
        <p:spPr>
          <a:xfrm>
            <a:off x="694944" y="502920"/>
            <a:ext cx="274320" cy="347472"/>
          </a:xfrm>
          <a:prstGeom prst="triangl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448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PINNACLE PRECISION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51560" y="7040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CONSULTING LIMITED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486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DEFENSE-ALIGNED CAPABILITY PROFILE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2450592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Readiness for Secure Operations</a:t>
            </a:r>
            <a:endParaRPr lang="en-US" sz="400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0C1830"/>
          </a:solidFill>
          <a:ln w="12700">
            <a:solidFill>
              <a:srgbClr val="2F5C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Engineering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42032" y="4160520"/>
            <a:ext cx="1748333" cy="365760"/>
          </a:xfrm>
          <a:prstGeom prst="roundRect">
            <a:avLst>
              <a:gd name="adj" fmla="val 50000"/>
            </a:avLst>
          </a:prstGeom>
          <a:solidFill>
            <a:srgbClr val="0C1830"/>
          </a:solidFill>
          <a:ln w="12700">
            <a:solidFill>
              <a:srgbClr val="2F5C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4160520"/>
            <a:ext cx="17483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Construction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54957" y="4160520"/>
            <a:ext cx="1909267" cy="365760"/>
          </a:xfrm>
          <a:prstGeom prst="roundRect">
            <a:avLst>
              <a:gd name="adj" fmla="val 50000"/>
            </a:avLst>
          </a:prstGeom>
          <a:solidFill>
            <a:srgbClr val="0C1830"/>
          </a:solidFill>
          <a:ln w="12700">
            <a:solidFill>
              <a:srgbClr val="2F5C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54957" y="4160520"/>
            <a:ext cx="19092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Supply Chains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28816" y="4160520"/>
            <a:ext cx="2150669" cy="365760"/>
          </a:xfrm>
          <a:prstGeom prst="roundRect">
            <a:avLst>
              <a:gd name="adj" fmla="val 50000"/>
            </a:avLst>
          </a:prstGeom>
          <a:solidFill>
            <a:srgbClr val="0C1830"/>
          </a:solidFill>
          <a:ln w="12700">
            <a:solidFill>
              <a:srgbClr val="2F5C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8816" y="4160520"/>
            <a:ext cx="2150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Consulting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4800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Pinnacle Precision Engineering &amp; Consulting Limited to support Nigerian Army infrastructure resilience, operational readiness, and long-term modernization programs.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ABUJA, NIGERIA   |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292608"/>
          </a:xfrm>
          <a:prstGeom prst="triangle">
            <a:avLst/>
          </a:prstGeom>
          <a:solidFill>
            <a:srgbClr val="2F5C8A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365760"/>
            <a:ext cx="274320" cy="347472"/>
          </a:xfrm>
          <a:prstGeom prst="triangl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3108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PINNACLE PRECISION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2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CONSULTING LIMITED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1673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15+ Years of Engineering, Construction, and Supply Chain Expertise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Precision Engineering &amp; Consulting Limited is a Nigerian private engineering and construction firm founded by a team carrying more than fifteen years of combined industry experience. For defense stakeholders, that experience translates into four focused capabilities: secure engineering design, reliable construction, disciplined supply chain management, and modernization consulting.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9959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13232" y="459943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combined founding-team experience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70048" y="38862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39959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834640" y="459943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Defense-aligned service lines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91456" y="38862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39959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956048" y="459943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readiness outcomes we design for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6126480" cy="1051560"/>
          </a:xfrm>
          <a:prstGeom prst="roundRect">
            <a:avLst>
              <a:gd name="adj" fmla="val 6957"/>
            </a:avLst>
          </a:prstGeom>
          <a:solidFill>
            <a:srgbClr val="12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47725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Positioning Statement   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engineering and project-delivery support designed to improve readiness, harden infrastructure, and strengthen defense logistics without compromising safety, quality, integrity, or sustainability.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86600" y="2286000"/>
            <a:ext cx="455371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48716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Capability Pillars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06640" y="299923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3058668"/>
            <a:ext cx="338328" cy="33832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001000" y="299923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Engineering Design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406640" y="37764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3835908"/>
            <a:ext cx="338328" cy="33832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001000" y="377647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Construction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7406640" y="455371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4613148"/>
            <a:ext cx="338328" cy="33832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001000" y="455371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Supply Chain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7406640" y="533095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5390388"/>
            <a:ext cx="338328" cy="33832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001000" y="533095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Consulting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548640" y="65471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Precision Engineering &amp; Consulting Limited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18585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VALUE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Aligning Project Delivery with Operational Readiness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806440" cy="4892040"/>
          </a:xfrm>
          <a:prstGeom prst="roundRect">
            <a:avLst>
              <a:gd name="adj" fmla="val 1495"/>
            </a:avLst>
          </a:prstGeom>
          <a:solidFill>
            <a:srgbClr val="1221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strengthen defense infrastructure and operational readiness by delivering secure engineering solutions, reliable construction, disciplined supply chains, and strategic modernization consulting tailored to Nigeria’s defense sector.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2907792"/>
            <a:ext cx="5074920" cy="0"/>
          </a:xfrm>
          <a:prstGeom prst="line">
            <a:avLst/>
          </a:prstGeom>
          <a:noFill/>
          <a:ln w="12700">
            <a:solidFill>
              <a:srgbClr val="2F5C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821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307238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security alignment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334670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engagement is scoped around readiness, resilience, and operational continuity.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785616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6758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39502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workflows that shorten time-to-readiness without cutting corners.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4389120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42793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digital readiness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45537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BIM, IoT, and analytics brought into traditionally analog defense infrastructure.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992624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488289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for long-term capability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51572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repeat engagement and lifecycle support, not one-off delivery.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0" y="1508760"/>
            <a:ext cx="236829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31152" y="172821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0588" y="1787652"/>
            <a:ext cx="338328" cy="3383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931152" y="2295144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mission risk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931152" y="2679192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design reviews, quality controls, and lifecycle thinking reduce infrastructure and delivery risk.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272016" y="1508760"/>
            <a:ext cx="236829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528048" y="172821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484" y="1787652"/>
            <a:ext cx="338328" cy="33832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528048" y="2295144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 delivery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9528048" y="2679192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engineering, procurement, and construction workflows improve time-to-readiness.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675120" y="4069080"/>
            <a:ext cx="236829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931152" y="428853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588" y="4347972"/>
            <a:ext cx="338328" cy="33832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31152" y="4855464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asset uptime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6931152" y="5239512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sensors, analytics, and predictive maintenance support vehicle, generator, and facility uptime.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9272016" y="4069080"/>
            <a:ext cx="236829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528048" y="428853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484" y="4347972"/>
            <a:ext cx="338328" cy="33832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528048" y="4855464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accountability</a:t>
            </a:r>
            <a:endParaRPr lang="en-US" sz="1450" dirty="0"/>
          </a:p>
        </p:txBody>
      </p:sp>
      <p:sp>
        <p:nvSpPr>
          <p:cNvPr id="38" name="Text 32"/>
          <p:cNvSpPr/>
          <p:nvPr/>
        </p:nvSpPr>
        <p:spPr>
          <a:xfrm>
            <a:off x="9528048" y="5239512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vendor qualification, documentation, and handover discipline support full auditability.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548640" y="65471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Precision Engineering &amp; Consulting Limited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18585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Focused Capability Set for Defense Infrastructure and Modernization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9280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949" y="196650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81448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1911096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Engineering Design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2624328"/>
            <a:ext cx="482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facilities, command-and-control spaces, blast-aware structural design, MEP systems, and 3D CAD/BIM documentation from FEED through IFC.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33008" y="160020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25616" y="189280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316" y="1966509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865815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238848" y="1911096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Military Construction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25616" y="2624328"/>
            <a:ext cx="482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Bases, barracks, training grounds, logistics hubs, perimeter infrastructure, secure storage, and civil/structural works.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" y="413308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49" y="4206789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1448" y="4041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554480" y="4151376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Supply Chain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41248" y="4864608"/>
            <a:ext cx="482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qualification, strategic sourcing, logistics coordination, inventory dashboards, and lifecycle support for non-sensitive equipment and services.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33008" y="384048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25616" y="413308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316" y="4206789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65815" y="4041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238848" y="4151376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Modernization Consulting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525616" y="4864608"/>
            <a:ext cx="482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assessments, asset management, lifecycle cost analysis, digital transformation, IoT pilots, and predictive maintenance.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5870448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12213D"/>
          </a:solidFill>
          <a:ln/>
        </p:spPr>
      </p:sp>
      <p:sp>
        <p:nvSpPr>
          <p:cNvPr id="29" name="Text 23"/>
          <p:cNvSpPr/>
          <p:nvPr/>
        </p:nvSpPr>
        <p:spPr>
          <a:xfrm>
            <a:off x="822960" y="587044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for defense stakeholders: secure, maintainable, auditable, and readiness-oriented delivery at every stage.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48640" y="65471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Precision Engineering &amp; Consulting Limited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18585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9997135" y="-548640"/>
            <a:ext cx="2743200" cy="2743200"/>
          </a:xfrm>
          <a:prstGeom prst="triangle">
            <a:avLst/>
          </a:prstGeom>
          <a:solidFill>
            <a:srgbClr val="2F5C8A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CONSTRUCTION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768096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Construction and Military Facilities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548640" y="13716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design, and delivery support for facilities where reliability, access control, durability, and continuity of operations are non-negotiable.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233172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208" y="2398288"/>
            <a:ext cx="378927" cy="37892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07008" y="233172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and control centers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48640" y="3026664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08" y="3093232"/>
            <a:ext cx="378927" cy="378927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207008" y="3026664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Barracks and personnel facilities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548640" y="372160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3788176"/>
            <a:ext cx="378927" cy="378927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207008" y="3721608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grounds and support buildings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548640" y="441655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08" y="4483120"/>
            <a:ext cx="378927" cy="378927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207008" y="441655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hubs and secure storage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548640" y="511149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08" y="5178064"/>
            <a:ext cx="378927" cy="378927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207008" y="511149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and civil infrastructure</a:t>
            </a:r>
            <a:endParaRPr lang="en-US" sz="1400" dirty="0"/>
          </a:p>
        </p:txBody>
      </p:sp>
      <p:sp>
        <p:nvSpPr>
          <p:cNvPr id="44" name="Shape 37"/>
          <p:cNvSpPr/>
          <p:nvPr/>
        </p:nvSpPr>
        <p:spPr>
          <a:xfrm>
            <a:off x="548640" y="5989320"/>
            <a:ext cx="7406640" cy="502920"/>
          </a:xfrm>
          <a:prstGeom prst="roundRect">
            <a:avLst>
              <a:gd name="adj" fmla="val 10909"/>
            </a:avLst>
          </a:prstGeom>
          <a:solidFill>
            <a:srgbClr val="0C1830"/>
          </a:solidFill>
          <a:ln w="12700">
            <a:solidFill>
              <a:srgbClr val="2F5C8A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822960" y="5989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principle: secure-by-design, maintainable-by-design, and audit-ready from day one.</a:t>
            </a:r>
            <a:endParaRPr lang="en-US" sz="1150" dirty="0"/>
          </a:p>
        </p:txBody>
      </p:sp>
      <p:sp>
        <p:nvSpPr>
          <p:cNvPr id="46" name="Shape 39"/>
          <p:cNvSpPr/>
          <p:nvPr/>
        </p:nvSpPr>
        <p:spPr>
          <a:xfrm>
            <a:off x="8321040" y="233172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0C1830"/>
          </a:solidFill>
          <a:ln w="12700">
            <a:solidFill>
              <a:srgbClr val="2F5C8A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9509760" y="361188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632" y="3730752"/>
            <a:ext cx="676656" cy="676656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595360" y="44348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facilities where downtime is not an option.</a:t>
            </a:r>
            <a:endParaRPr lang="en-US" sz="1150" dirty="0"/>
          </a:p>
        </p:txBody>
      </p:sp>
      <p:sp>
        <p:nvSpPr>
          <p:cNvPr id="50" name="Text 42"/>
          <p:cNvSpPr/>
          <p:nvPr/>
        </p:nvSpPr>
        <p:spPr>
          <a:xfrm>
            <a:off x="548640" y="65471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Precision Engineering &amp; Consulting Limited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118585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SUPPLY CHAIN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Discipline and Inventory Visibility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Readiness-focused support services built around accountability at every handoff.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4884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773" y="2210653"/>
            <a:ext cx="351861" cy="3518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3055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qualification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770632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screening, prequalification, compliance checks, and ongoing performance monitoring.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33008" y="187452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07328" y="214884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141" y="2210653"/>
            <a:ext cx="351861" cy="3518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47408" y="213055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sourcing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07328" y="2770632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sourcing routes and negotiated supply agreements for approved items and services.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11480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73" y="4176613"/>
            <a:ext cx="351861" cy="3518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09651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control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2960" y="4736592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categorization, reorder planning, and warehousing process discipline.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33008" y="384048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07328" y="411480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141" y="4176613"/>
            <a:ext cx="351861" cy="3518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47408" y="409651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&amp; logistics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507328" y="4736592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documentation, and controlled logistics flows for project materials and spares.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806440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2213D"/>
          </a:solidFill>
          <a:ln/>
        </p:spPr>
      </p:sp>
      <p:sp>
        <p:nvSpPr>
          <p:cNvPr id="26" name="Text 20"/>
          <p:cNvSpPr/>
          <p:nvPr/>
        </p:nvSpPr>
        <p:spPr>
          <a:xfrm>
            <a:off x="822960" y="5806440"/>
            <a:ext cx="105457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target: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vendor qualification and inventory practices are designed to shorten lead times and reduce stock-outs — actual results depend on scope and baseline conditions.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65471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Precision Engineering &amp; Consulting Limited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18585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800000">
            <a:off x="-914400" y="4572000"/>
            <a:ext cx="3657600" cy="3657600"/>
          </a:xfrm>
          <a:prstGeom prst="rect">
            <a:avLst/>
          </a:prstGeom>
          <a:solidFill>
            <a:srgbClr val="2F5C8A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CONSULTING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72237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Modernization Consulting and Asset Readiness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548640" y="12618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existing engineering and asset management practices with data-driven tools.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187452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0C1830"/>
          </a:solidFill>
          <a:ln w="12700">
            <a:solidFill>
              <a:srgbClr val="2F5C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214884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773" y="2210653"/>
            <a:ext cx="351861" cy="351861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63040" y="213055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sensors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822960" y="2770632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monitoring across vehicles, generators, and critical facility systems.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233008" y="187452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0C1830"/>
          </a:solidFill>
          <a:ln w="12700">
            <a:solidFill>
              <a:srgbClr val="2F5C8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07328" y="214884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141" y="2210653"/>
            <a:ext cx="351861" cy="351861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147408" y="213055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38" name="Text 34"/>
          <p:cNvSpPr/>
          <p:nvPr/>
        </p:nvSpPr>
        <p:spPr>
          <a:xfrm>
            <a:off x="6507328" y="2770632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Failure-pattern insights that turn raw sensor data into maintenance decisions.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48640" y="384048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0C1830"/>
          </a:solidFill>
          <a:ln w="12700">
            <a:solidFill>
              <a:srgbClr val="2F5C8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22960" y="411480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73" y="4176613"/>
            <a:ext cx="351861" cy="351861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1463040" y="409651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</a:t>
            </a:r>
            <a:endParaRPr lang="en-US" sz="1450" dirty="0"/>
          </a:p>
        </p:txBody>
      </p:sp>
      <p:sp>
        <p:nvSpPr>
          <p:cNvPr id="43" name="Text 38"/>
          <p:cNvSpPr/>
          <p:nvPr/>
        </p:nvSpPr>
        <p:spPr>
          <a:xfrm>
            <a:off x="822960" y="4736592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data continuity carried from design through day-to-day operations.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6233008" y="384048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0C1830"/>
          </a:solidFill>
          <a:ln w="12700">
            <a:solidFill>
              <a:srgbClr val="2F5C8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507328" y="411480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141" y="4176613"/>
            <a:ext cx="351861" cy="351861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147408" y="409651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450" dirty="0"/>
          </a:p>
        </p:txBody>
      </p:sp>
      <p:sp>
        <p:nvSpPr>
          <p:cNvPr id="48" name="Text 42"/>
          <p:cNvSpPr/>
          <p:nvPr/>
        </p:nvSpPr>
        <p:spPr>
          <a:xfrm>
            <a:off x="6507328" y="4736592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adoption support so maintenance teams actually use the new workflow.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548640" y="5806440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0C1830"/>
          </a:solidFill>
          <a:ln w="12700">
            <a:solidFill>
              <a:srgbClr val="2F5C8A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822960" y="5806440"/>
            <a:ext cx="105457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analytics can flag early signs of component wear — such as bearing degradation — before failure, helping avoid unplanned downtime.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548640" y="65471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Precision Engineering &amp; Consulting Limited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1118585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to Discuss with Nigerian Army Stakeholders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528" y="1913656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42032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command centers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999232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buildings, protected MEP systems, backup utilities, and communication-room readiness.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38218" y="155448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2538" y="184708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107" y="1913656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2538" y="2542032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Armored vehicle maintenance hubs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12538" y="2999232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Diagnostics, workflow design, inventory visibility, and predictive maintenance for readiness.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27797" y="155448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02117" y="184708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685" y="1913656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2117" y="2542032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Military housing and barracks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02117" y="2999232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sustainable, and maintainable accommodation with efficient utilities.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17880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528" y="4245376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73752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logistics optimization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2960" y="5330952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governance, stock control, warehousing discipline, and delivery reliability.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38218" y="388620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12538" y="417880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07" y="4245376"/>
            <a:ext cx="378927" cy="3789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2538" y="4873752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facilities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12538" y="5330952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Ranges, classrooms, workshops, simulation rooms, and supporting civil works.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27797" y="388620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02117" y="417880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685" y="4245376"/>
            <a:ext cx="378927" cy="3789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02117" y="4873752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and power resilience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02117" y="5330952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Mini-grid support, borehole and water systems, backup generation, and lifecycle maintenance.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these are proposed defense applications for discussion purposes and do not represent claims of completed Nigerian Army contracts.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48640" y="65471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Precision Engineering &amp; Consulting Limited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585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Path from Needs Assessment to Lifecycle Support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864" cy="324612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7452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" y="237744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376" y="2444008"/>
            <a:ext cx="378927" cy="3789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06324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3474720"/>
            <a:ext cx="2165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requirements, site realities, operational constraints, and risk profile.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3664" y="2633472"/>
            <a:ext cx="0" cy="0"/>
          </a:xfrm>
          <a:prstGeom prst="line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3390824" y="1691640"/>
            <a:ext cx="2567864" cy="324612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91992" y="187452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591992" y="237744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560" y="2444008"/>
            <a:ext cx="378927" cy="3789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1992" y="306324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91992" y="3474720"/>
            <a:ext cx="2165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FEED, BIM/CAD, and IFC packages, alongside cost logic and execution strategy.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95848" y="2633472"/>
            <a:ext cx="0" cy="0"/>
          </a:xfrm>
          <a:prstGeom prst="line">
            <a:avLst/>
          </a:prstGeom>
          <a:noFill/>
          <a:ln/>
        </p:spPr>
      </p:sp>
      <p:sp>
        <p:nvSpPr>
          <p:cNvPr id="18" name="Shape 14"/>
          <p:cNvSpPr/>
          <p:nvPr/>
        </p:nvSpPr>
        <p:spPr>
          <a:xfrm>
            <a:off x="6233008" y="1691640"/>
            <a:ext cx="2567864" cy="324612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34176" y="187452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434176" y="237744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744" y="2444008"/>
            <a:ext cx="378927" cy="37892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34176" y="306324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34176" y="3474720"/>
            <a:ext cx="2165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procurement, construction interfaces, quality controls, and commissioning.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938031" y="2633472"/>
            <a:ext cx="0" cy="0"/>
          </a:xfrm>
          <a:prstGeom prst="line">
            <a:avLst/>
          </a:prstGeom>
          <a:noFill/>
          <a:ln/>
        </p:spPr>
      </p:sp>
      <p:sp>
        <p:nvSpPr>
          <p:cNvPr id="25" name="Shape 20"/>
          <p:cNvSpPr/>
          <p:nvPr/>
        </p:nvSpPr>
        <p:spPr>
          <a:xfrm>
            <a:off x="9075191" y="1691640"/>
            <a:ext cx="2567864" cy="324612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276359" y="187452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9276359" y="237744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928" y="2444008"/>
            <a:ext cx="378927" cy="37892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76359" y="306324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276359" y="3474720"/>
            <a:ext cx="2165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handover, training, asset data capture, and maintenance-readiness planning.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3189656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60318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8874023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28"/>
          <p:cNvSpPr/>
          <p:nvPr/>
        </p:nvSpPr>
        <p:spPr>
          <a:xfrm>
            <a:off x="548640" y="5257800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2213D"/>
          </a:solidFill>
          <a:ln/>
        </p:spPr>
      </p:sp>
      <p:sp>
        <p:nvSpPr>
          <p:cNvPr id="35" name="Text 29"/>
          <p:cNvSpPr/>
          <p:nvPr/>
        </p:nvSpPr>
        <p:spPr>
          <a:xfrm>
            <a:off x="822960" y="5257800"/>
            <a:ext cx="105457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principle: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proceeds within formal procurement, governance, security, and confidentiality requirements set by the client.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48640" y="65471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Precision Engineering &amp; Consulting Limited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185855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6350">
            <a:solidFill>
              <a:srgbClr val="1E2F52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14255" y="4206240"/>
            <a:ext cx="2926080" cy="2926080"/>
          </a:xfrm>
          <a:prstGeom prst="triangle">
            <a:avLst/>
          </a:prstGeom>
          <a:solidFill>
            <a:srgbClr val="C9A227">
              <a:alpha val="1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57784"/>
            <a:ext cx="310896" cy="292608"/>
          </a:xfrm>
          <a:prstGeom prst="triangle">
            <a:avLst/>
          </a:prstGeom>
          <a:solidFill>
            <a:srgbClr val="2F5C8A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944" y="502920"/>
            <a:ext cx="274320" cy="347472"/>
          </a:xfrm>
          <a:prstGeom prst="triangl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48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PINNACLE PRECISION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51560" y="7040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CONSULTING LIMITED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4864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22402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Support Defense Readiness?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48640" y="29992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capability briefing, proposal discussion, partnership meeting, or site assessment.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699" y="3851819"/>
            <a:ext cx="324795" cy="324795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170432" y="3776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170432" y="39684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Abuja, Nigeria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548640" y="4416552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99" y="4473611"/>
            <a:ext cx="324795" cy="324795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170432" y="43982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1170432" y="4590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info@pinnaclepec.com</a:t>
            </a:r>
            <a:endParaRPr lang="en-US" sz="1350" dirty="0"/>
          </a:p>
        </p:txBody>
      </p:sp>
      <p:sp>
        <p:nvSpPr>
          <p:cNvPr id="41" name="Shape 37"/>
          <p:cNvSpPr/>
          <p:nvPr/>
        </p:nvSpPr>
        <p:spPr>
          <a:xfrm>
            <a:off x="548640" y="503834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9" y="5095403"/>
            <a:ext cx="324795" cy="324795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1170432" y="5020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1170432" y="5212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enquiries@pinnaclepec.com</a:t>
            </a:r>
            <a:endParaRPr lang="en-US" sz="1350" dirty="0"/>
          </a:p>
        </p:txBody>
      </p:sp>
      <p:sp>
        <p:nvSpPr>
          <p:cNvPr id="45" name="Shape 40"/>
          <p:cNvSpPr/>
          <p:nvPr/>
        </p:nvSpPr>
        <p:spPr>
          <a:xfrm>
            <a:off x="548640" y="5660136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99" y="5717195"/>
            <a:ext cx="324795" cy="324795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1170432" y="5641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1170432" y="5833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(662) 497-9481</a:t>
            </a:r>
            <a:endParaRPr lang="en-US" sz="1350" dirty="0"/>
          </a:p>
        </p:txBody>
      </p:sp>
      <p:sp>
        <p:nvSpPr>
          <p:cNvPr id="49" name="Shape 43"/>
          <p:cNvSpPr/>
          <p:nvPr/>
        </p:nvSpPr>
        <p:spPr>
          <a:xfrm>
            <a:off x="548640" y="6355080"/>
            <a:ext cx="5943600" cy="0"/>
          </a:xfrm>
          <a:prstGeom prst="line">
            <a:avLst/>
          </a:prstGeom>
          <a:noFill/>
          <a:ln w="12700">
            <a:solidFill>
              <a:srgbClr val="2F5C8A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Pinnacle Precision Engineering &amp; Consulting Limited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2026-08-10T15:01:01Z</dcterms:created>
  <dcterms:modified xsi:type="dcterms:W3CDTF">2026-08-10T15:01:01Z</dcterms:modified>
</cp:coreProperties>
</file>